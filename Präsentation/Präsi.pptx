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75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82AFC-C86A-CF10-0820-B702198191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02547A-8284-4634-03A7-26E6C7C062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626B1-D2BA-7AC1-CB66-1DA3B138B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506BE-2B91-4807-8B59-08F493391B7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391F0-DA47-5B92-9FF1-BF7052DBA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30893-F824-AAED-70FD-B649D2240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3CA49-791C-4324-9259-FF6AE386E4D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969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E8FB8-B33D-D4AA-C153-8D616FC18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76051-AF11-9FDD-D4BD-A38FD9F41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4C8B0-87CD-3007-1320-A3E5A7C94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506BE-2B91-4807-8B59-08F493391B7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A1E72-5D51-0F7C-9327-BFF8D5C5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302F2-E7C2-8419-835E-26144D00F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3CA49-791C-4324-9259-FF6AE386E4D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940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8E8D5-91D8-00A1-6778-AD9FC2BFA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4069B-0706-BC6A-7C7F-D0A5E5550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EE33B-6AFA-4D6E-1E8E-A21BD380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506BE-2B91-4807-8B59-08F493391B7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8AFEB-E403-D1CD-7FBD-B52C3706A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E99D4-0E5E-FD62-DBF0-ADBAE09C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3CA49-791C-4324-9259-FF6AE386E4D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46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4916D-7D59-FA6A-9AFE-26312BBAD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7656D-DD63-ED9A-8D2F-B83E93FC10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F3E83-FCE9-35F3-4CFE-71129F798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ED610-E317-926E-88DB-26C330A7C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506BE-2B91-4807-8B59-08F493391B7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C4136-644B-943E-F99B-D2DD9BB2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D270D-96D7-A690-A3F1-C0121209A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3CA49-791C-4324-9259-FF6AE386E4D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3989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08CD1-6ED1-2D82-67EF-91E764D3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D60CB-D48C-C82C-DDD9-DD42784B4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0E231-34F8-4905-C725-2720FA08A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7A819B-88BD-F224-D691-162CD817F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EF363D-9790-9B16-647C-71611560E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417FA-1E31-8B44-3E71-54B919C96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506BE-2B91-4807-8B59-08F493391B7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CAF823-24B0-8915-72C1-3998712FD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8DFA72-FF21-B026-31EF-F6DBAA82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3CA49-791C-4324-9259-FF6AE386E4D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3351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44373-6009-50E7-FBC8-0748B0BFE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A6C604-1B08-5951-723D-C88087E1A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506BE-2B91-4807-8B59-08F493391B7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CF0751-73C6-6AE4-42EF-7E54EC116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02D0EA-BDB2-4F2A-D3D4-D34BB509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3CA49-791C-4324-9259-FF6AE386E4D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438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4A6979-5ACA-C5BA-A288-A57D425D7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506BE-2B91-4807-8B59-08F493391B7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B47F70-0D72-D155-3D81-50D557DD5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76BFF-A8EB-6688-302B-5FF386981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3CA49-791C-4324-9259-FF6AE386E4D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035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7FF6F-BFDF-D31C-8CF6-34E80BDA9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95F9B-D07A-A9BD-0F5C-9DDBAA108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9257E-4C72-E882-E3FC-FF5934BDE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85037-0891-EC5B-37AF-03AC14A74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506BE-2B91-4807-8B59-08F493391B7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98A5E-0A15-2991-B81F-D057E30B5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977BF-898B-638C-33B9-6D849D0E4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3CA49-791C-4324-9259-FF6AE386E4D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0895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C7908-5190-9702-FE5E-8D389AA9C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C05EC-575E-E7B4-7D24-C7B0A7C7CB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346B1-8A17-4C37-8924-1A33D90B4A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BB22A-8B68-C5B9-5ED1-77714D782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506BE-2B91-4807-8B59-08F493391B7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A84AF-2FB8-75E2-C15D-77A46897A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717AD-F609-4988-62EF-E730B6CD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3CA49-791C-4324-9259-FF6AE386E4D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486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FB1E5-070E-4F97-06E1-0F71A1F49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E7860B-1AFF-20B7-2A62-9E9F521D5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8B378-E831-F291-ECAF-A101449DA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506BE-2B91-4807-8B59-08F493391B7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5AC65-24E3-9E42-4791-DBCAF2E2E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C7BAC-4F9C-22A7-FB6B-5EA3E83B2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3CA49-791C-4324-9259-FF6AE386E4D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8094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5EECF9-EA13-EA20-8841-1F313CCE89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E2B587-53CB-FE38-6F3F-223B42D2C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816C-B0F1-D1B7-6BA9-41865D9F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506BE-2B91-4807-8B59-08F493391B7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39224-3D07-A4DD-B622-3742B8B5D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6C824-6062-FB3C-76E8-A248475E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3CA49-791C-4324-9259-FF6AE386E4D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8929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3E16EA-05FA-900F-F5A4-59A85EAC0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00FD1-69A8-E850-CE62-9C2ADDA7B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09ECE-1435-9A73-BADE-A3AEC4E0C6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506BE-2B91-4807-8B59-08F493391B7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6E913-421C-9E0F-A5A1-435B99575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682EE-72D1-44D9-F349-6A16121FAB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3CA49-791C-4324-9259-FF6AE386E4D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794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E4A47-5CB3-6076-94A3-8BBCAE5BD6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4AED5-2924-8202-E166-510FB9DF29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58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40E09-FC01-2192-A9E5-FC6803578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Auswahlkriterien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C7B4A-72B9-E4BD-D533-985B224B3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57801" cy="2136776"/>
          </a:xfrm>
        </p:spPr>
        <p:txBody>
          <a:bodyPr>
            <a:normAutofit/>
          </a:bodyPr>
          <a:lstStyle/>
          <a:p>
            <a:r>
              <a:rPr lang="de-CH" dirty="0"/>
              <a:t>Systemverhalten</a:t>
            </a:r>
          </a:p>
          <a:p>
            <a:pPr lvl="1"/>
            <a:r>
              <a:rPr lang="de-CH" dirty="0"/>
              <a:t>Stabilität</a:t>
            </a:r>
          </a:p>
          <a:p>
            <a:pPr lvl="1"/>
            <a:r>
              <a:rPr lang="de-CH" dirty="0"/>
              <a:t>Zeitliches Verhalten</a:t>
            </a:r>
          </a:p>
          <a:p>
            <a:pPr lvl="1"/>
            <a:r>
              <a:rPr lang="de-CH" dirty="0"/>
              <a:t>Stationäres Verhalten</a:t>
            </a:r>
          </a:p>
          <a:p>
            <a:pPr lvl="1"/>
            <a:r>
              <a:rPr lang="de-CH" dirty="0"/>
              <a:t>Robustheit</a:t>
            </a:r>
          </a:p>
          <a:p>
            <a:pPr marL="457200" lvl="1" indent="0">
              <a:buNone/>
            </a:pPr>
            <a:endParaRPr lang="de-CH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B1DD88A-0659-8071-345B-04C0E8CAD00F}"/>
              </a:ext>
            </a:extLst>
          </p:cNvPr>
          <p:cNvSpPr txBox="1">
            <a:spLocks/>
          </p:cNvSpPr>
          <p:nvPr/>
        </p:nvSpPr>
        <p:spPr>
          <a:xfrm>
            <a:off x="838200" y="3916362"/>
            <a:ext cx="5195596" cy="229782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dirty="0"/>
              <a:t>Voraussetzungen an Regelstrecken</a:t>
            </a:r>
          </a:p>
          <a:p>
            <a:pPr lvl="1"/>
            <a:r>
              <a:rPr lang="de-CH" dirty="0"/>
              <a:t>Stabil/Instabil</a:t>
            </a:r>
          </a:p>
          <a:p>
            <a:pPr lvl="1"/>
            <a:r>
              <a:rPr lang="de-CH" dirty="0"/>
              <a:t>SISO/MIMO Fähigkeit</a:t>
            </a:r>
          </a:p>
          <a:p>
            <a:pPr lvl="1"/>
            <a:r>
              <a:rPr lang="de-CH" dirty="0"/>
              <a:t>Linear/Nichtlinear, Zeitinvariant/Zeitvariant</a:t>
            </a:r>
          </a:p>
          <a:p>
            <a:pPr lvl="1"/>
            <a:r>
              <a:rPr lang="de-CH" dirty="0"/>
              <a:t>Regler Strukturen, Anzahl Optimierungs-Parameter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de-CH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634C26D-C640-3A55-EA2B-4639CF7FC3EF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1" cy="2136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dirty="0"/>
              <a:t>Schwierigkeit der Parametrierung</a:t>
            </a:r>
          </a:p>
          <a:p>
            <a:pPr lvl="1"/>
            <a:r>
              <a:rPr lang="de-CH" dirty="0"/>
              <a:t>Benutzerfreundlichkeit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de-CH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B420C2-629D-4FC4-364A-D7CC00C09D52}"/>
              </a:ext>
            </a:extLst>
          </p:cNvPr>
          <p:cNvSpPr txBox="1">
            <a:spLocks/>
          </p:cNvSpPr>
          <p:nvPr/>
        </p:nvSpPr>
        <p:spPr>
          <a:xfrm>
            <a:off x="6033796" y="3916362"/>
            <a:ext cx="5257801" cy="2136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dirty="0"/>
              <a:t>Automatisierungsgrad</a:t>
            </a:r>
          </a:p>
          <a:p>
            <a:pPr lvl="1"/>
            <a:r>
              <a:rPr lang="de-CH" dirty="0"/>
              <a:t>Tools/Technologien</a:t>
            </a:r>
          </a:p>
          <a:p>
            <a:pPr lvl="1"/>
            <a:r>
              <a:rPr lang="de-CH" dirty="0"/>
              <a:t>Eingriffe des Anwenders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74331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55448-0777-BCEB-E44C-1399396F6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Recherchierte Methoden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B24C6-B311-43D3-34EB-89D76771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Lambda-Tuning</a:t>
            </a:r>
          </a:p>
          <a:p>
            <a:r>
              <a:rPr lang="de-CH" dirty="0"/>
              <a:t>Pol-Platzierung</a:t>
            </a:r>
          </a:p>
          <a:p>
            <a:r>
              <a:rPr lang="de-CH" dirty="0"/>
              <a:t>LQR</a:t>
            </a:r>
          </a:p>
          <a:p>
            <a:r>
              <a:rPr lang="de-CH" dirty="0"/>
              <a:t>Ziegler-Nichols</a:t>
            </a:r>
          </a:p>
          <a:p>
            <a:r>
              <a:rPr lang="de-CH" dirty="0" err="1"/>
              <a:t>Matlab</a:t>
            </a:r>
            <a:r>
              <a:rPr lang="de-CH" dirty="0"/>
              <a:t> </a:t>
            </a:r>
            <a:r>
              <a:rPr lang="de-CH" dirty="0" err="1"/>
              <a:t>systune</a:t>
            </a:r>
            <a:endParaRPr lang="de-CH" dirty="0"/>
          </a:p>
          <a:p>
            <a:r>
              <a:rPr lang="de-CH" dirty="0" err="1"/>
              <a:t>Matlab</a:t>
            </a:r>
            <a:r>
              <a:rPr lang="de-CH" dirty="0"/>
              <a:t> </a:t>
            </a:r>
            <a:r>
              <a:rPr lang="de-CH" dirty="0" err="1"/>
              <a:t>looptune</a:t>
            </a:r>
            <a:endParaRPr lang="de-CH" dirty="0"/>
          </a:p>
          <a:p>
            <a:r>
              <a:rPr lang="en-GB" dirty="0" err="1"/>
              <a:t>Genetische</a:t>
            </a:r>
            <a:r>
              <a:rPr lang="en-GB" dirty="0"/>
              <a:t> </a:t>
            </a:r>
            <a:r>
              <a:rPr lang="en-GB" dirty="0" err="1"/>
              <a:t>Algorithmen</a:t>
            </a:r>
            <a:endParaRPr lang="en-GB" dirty="0"/>
          </a:p>
          <a:p>
            <a:r>
              <a:rPr lang="en-GB" dirty="0" err="1"/>
              <a:t>Neuroevolution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9362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2A948-C874-E1E1-8137-CD4FFF7EB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Lambda-Tuning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AEF27-1508-088D-F550-0227AE5B0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56791"/>
          </a:xfrm>
        </p:spPr>
        <p:txBody>
          <a:bodyPr/>
          <a:lstStyle/>
          <a:p>
            <a:r>
              <a:rPr lang="de-CH" dirty="0"/>
              <a:t>Prinzip der Pol-Nullstellenkürzung mit PID-Regler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2EFFCA-095D-8D65-89A0-CD67604B7FC7}"/>
              </a:ext>
            </a:extLst>
          </p:cNvPr>
          <p:cNvSpPr txBox="1"/>
          <p:nvPr/>
        </p:nvSpPr>
        <p:spPr>
          <a:xfrm>
            <a:off x="926840" y="2824065"/>
            <a:ext cx="105155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+ Verwendet nur einen </a:t>
            </a:r>
            <a:r>
              <a:rPr lang="de-CH" dirty="0" err="1"/>
              <a:t>tuning</a:t>
            </a:r>
            <a:r>
              <a:rPr lang="de-CH" dirty="0"/>
              <a:t> Parameter: λ</a:t>
            </a:r>
          </a:p>
          <a:p>
            <a:r>
              <a:rPr lang="de-CH" dirty="0"/>
              <a:t>+ Einfach automatisierbar</a:t>
            </a:r>
          </a:p>
          <a:p>
            <a:r>
              <a:rPr lang="de-CH" dirty="0"/>
              <a:t>+ Benutzer muss nur einen Parameter einstellen. Dies kann mit einem GUI Element wie</a:t>
            </a:r>
          </a:p>
          <a:p>
            <a:r>
              <a:rPr lang="de-CH" dirty="0"/>
              <a:t>   z.B. einem Slider umgesetzt werden</a:t>
            </a:r>
          </a:p>
          <a:p>
            <a:endParaRPr lang="en-GB" dirty="0"/>
          </a:p>
          <a:p>
            <a:r>
              <a:rPr lang="de-CH" dirty="0"/>
              <a:t>- Das Modell muss stabil sein</a:t>
            </a:r>
          </a:p>
          <a:p>
            <a:r>
              <a:rPr lang="de-CH" dirty="0"/>
              <a:t>- Das Modell muss eine spezifische Form aufweisen</a:t>
            </a:r>
          </a:p>
          <a:p>
            <a:r>
              <a:rPr lang="de-CH" dirty="0"/>
              <a:t>- Das Modell muss linear und zeitinvariant sein</a:t>
            </a:r>
          </a:p>
          <a:p>
            <a:r>
              <a:rPr lang="en-GB" dirty="0"/>
              <a:t>- </a:t>
            </a:r>
            <a:r>
              <a:rPr lang="en-GB" dirty="0" err="1"/>
              <a:t>Nicht</a:t>
            </a:r>
            <a:r>
              <a:rPr lang="en-GB" dirty="0"/>
              <a:t> </a:t>
            </a:r>
            <a:r>
              <a:rPr lang="en-GB" dirty="0" err="1"/>
              <a:t>geeignet</a:t>
            </a:r>
            <a:r>
              <a:rPr lang="en-GB" dirty="0"/>
              <a:t> für MIMO-Systeme</a:t>
            </a:r>
          </a:p>
          <a:p>
            <a:r>
              <a:rPr lang="de-CH" dirty="0"/>
              <a:t>- </a:t>
            </a:r>
            <a:r>
              <a:rPr lang="de-CH" dirty="0" err="1"/>
              <a:t>Reglerstrucktur</a:t>
            </a:r>
            <a:r>
              <a:rPr lang="de-CH" dirty="0"/>
              <a:t> ist auf PID-Regler beschränkt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1511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35D27-FB79-247A-7D10-E1D728B40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Pol-Platzierung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3943B-E423-C647-D21A-A3A0D03DF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98440"/>
          </a:xfrm>
        </p:spPr>
        <p:txBody>
          <a:bodyPr/>
          <a:lstStyle/>
          <a:p>
            <a:r>
              <a:rPr lang="de-CH" dirty="0"/>
              <a:t>Pole des geschlossenen Systems können durch den Anwender frei platziert werden, um das gewünschte Systemverhalten zu erreichen.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1C659A-3833-4682-D36D-808D1653F29D}"/>
              </a:ext>
            </a:extLst>
          </p:cNvPr>
          <p:cNvSpPr txBox="1"/>
          <p:nvPr/>
        </p:nvSpPr>
        <p:spPr>
          <a:xfrm>
            <a:off x="926840" y="2824065"/>
            <a:ext cx="10515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+ Volle Kontrolle über die Pole des geschlossenen Regelkreises</a:t>
            </a:r>
          </a:p>
          <a:p>
            <a:r>
              <a:rPr lang="de-CH" dirty="0"/>
              <a:t>+ Einfach automatisierbar</a:t>
            </a:r>
          </a:p>
          <a:p>
            <a:r>
              <a:rPr lang="de-CH" dirty="0"/>
              <a:t>+ Kann auf instabile Systeme angewendet werden</a:t>
            </a:r>
          </a:p>
          <a:p>
            <a:r>
              <a:rPr lang="de-CH" dirty="0"/>
              <a:t>+ Geeignet für MIMO-Systeme</a:t>
            </a:r>
          </a:p>
          <a:p>
            <a:r>
              <a:rPr lang="de-CH" dirty="0"/>
              <a:t>+ Die Platzierung der Pole kann mit Hilfe eines GUI-Editors graphisch erfolgen</a:t>
            </a:r>
          </a:p>
          <a:p>
            <a:endParaRPr lang="en-GB" dirty="0"/>
          </a:p>
          <a:p>
            <a:r>
              <a:rPr lang="de-CH" dirty="0"/>
              <a:t>- Benötigt ein intuitives Verständnis für den Einfluss der Polpositionen auf das System</a:t>
            </a:r>
          </a:p>
          <a:p>
            <a:r>
              <a:rPr lang="de-CH" dirty="0"/>
              <a:t>- Das Modell muss linear und zeitinvariant sein</a:t>
            </a:r>
          </a:p>
        </p:txBody>
      </p:sp>
    </p:spTree>
    <p:extLst>
      <p:ext uri="{BB962C8B-B14F-4D97-AF65-F5344CB8AC3E}">
        <p14:creationId xmlns:p14="http://schemas.microsoft.com/office/powerpoint/2010/main" val="2822857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4446-897B-D075-14ED-0E21E49AC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LQR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0FB43-F68E-E2D7-A983-A694F7F78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98440"/>
          </a:xfrm>
        </p:spPr>
        <p:txBody>
          <a:bodyPr>
            <a:normAutofit fontScale="92500" lnSpcReduction="20000"/>
          </a:bodyPr>
          <a:lstStyle/>
          <a:p>
            <a:r>
              <a:rPr lang="de-CH" dirty="0" err="1"/>
              <a:t>Plaziert</a:t>
            </a:r>
            <a:r>
              <a:rPr lang="de-CH" dirty="0"/>
              <a:t> die Pole aufgrund einer vorgegebenen Bewertungsfunktion.</a:t>
            </a:r>
            <a:br>
              <a:rPr lang="en-GB" dirty="0"/>
            </a:br>
            <a:r>
              <a:rPr lang="en-GB" dirty="0"/>
              <a:t>Die </a:t>
            </a:r>
            <a:r>
              <a:rPr lang="en-GB" dirty="0" err="1"/>
              <a:t>Bewertungsfunktion</a:t>
            </a:r>
            <a:r>
              <a:rPr lang="en-GB" dirty="0"/>
              <a:t> </a:t>
            </a:r>
            <a:r>
              <a:rPr lang="en-GB" dirty="0" err="1"/>
              <a:t>kann</a:t>
            </a:r>
            <a:r>
              <a:rPr lang="en-GB" dirty="0"/>
              <a:t> den </a:t>
            </a:r>
            <a:r>
              <a:rPr lang="en-GB" dirty="0" err="1"/>
              <a:t>Zustandsvektor</a:t>
            </a:r>
            <a:r>
              <a:rPr lang="en-GB" dirty="0"/>
              <a:t> und die </a:t>
            </a:r>
            <a:r>
              <a:rPr lang="en-GB" dirty="0" err="1"/>
              <a:t>Steuersignale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einbeziehen</a:t>
            </a:r>
            <a:r>
              <a:rPr lang="en-GB" dirty="0"/>
              <a:t>.</a:t>
            </a:r>
            <a:endParaRPr lang="de-CH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435F13-9FC9-29CC-8FE1-934182B8CBA5}"/>
              </a:ext>
            </a:extLst>
          </p:cNvPr>
          <p:cNvSpPr txBox="1"/>
          <p:nvPr/>
        </p:nvSpPr>
        <p:spPr>
          <a:xfrm>
            <a:off x="926840" y="2824065"/>
            <a:ext cx="1051559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+ Volle Kontrolle über die Pole des geschlossenen Regelkreises</a:t>
            </a:r>
          </a:p>
          <a:p>
            <a:r>
              <a:rPr lang="de-CH" dirty="0"/>
              <a:t>+ Einfach automatisierbar</a:t>
            </a:r>
          </a:p>
          <a:p>
            <a:r>
              <a:rPr lang="de-CH" dirty="0"/>
              <a:t>+ Kann auf instabile Systeme angewendet werden</a:t>
            </a:r>
          </a:p>
          <a:p>
            <a:r>
              <a:rPr lang="de-CH" dirty="0"/>
              <a:t>+ Geeignet für MIMO-Systeme</a:t>
            </a:r>
          </a:p>
          <a:p>
            <a:endParaRPr lang="en-GB" dirty="0"/>
          </a:p>
          <a:p>
            <a:r>
              <a:rPr lang="de-CH" dirty="0"/>
              <a:t>- System sollte Regelungsnormalform vorliegen damit das bestimmen der</a:t>
            </a:r>
          </a:p>
          <a:p>
            <a:r>
              <a:rPr lang="de-CH" dirty="0"/>
              <a:t>  Kostenmatrizen einfacher ist</a:t>
            </a:r>
          </a:p>
          <a:p>
            <a:r>
              <a:rPr lang="de-CH" dirty="0"/>
              <a:t>- Bestimmung der Gewichtungsmatrizen ist nicht intuitiv</a:t>
            </a:r>
          </a:p>
          <a:p>
            <a:r>
              <a:rPr lang="de-CH" dirty="0"/>
              <a:t>- Das Modell muss linear und zeitinvariant sein</a:t>
            </a:r>
          </a:p>
        </p:txBody>
      </p:sp>
    </p:spTree>
    <p:extLst>
      <p:ext uri="{BB962C8B-B14F-4D97-AF65-F5344CB8AC3E}">
        <p14:creationId xmlns:p14="http://schemas.microsoft.com/office/powerpoint/2010/main" val="3230079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3914-A33A-D9EE-8FEF-2A59C64A5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Ziegler-Nichols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328D2-85B5-CB4A-0280-A3C49083A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078"/>
            <a:ext cx="10515600" cy="998440"/>
          </a:xfrm>
        </p:spPr>
        <p:txBody>
          <a:bodyPr/>
          <a:lstStyle/>
          <a:p>
            <a:r>
              <a:rPr lang="de-CH" dirty="0"/>
              <a:t>Empirische Ermittlung der PID-Parameter für ein grob funktionierenden Regler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1C4AF4-7E2A-23D9-FB4C-8FF12F02EA14}"/>
              </a:ext>
            </a:extLst>
          </p:cNvPr>
          <p:cNvSpPr txBox="1"/>
          <p:nvPr/>
        </p:nvSpPr>
        <p:spPr>
          <a:xfrm>
            <a:off x="933060" y="2245558"/>
            <a:ext cx="105155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+ Benötigt kein Modell</a:t>
            </a:r>
          </a:p>
          <a:p>
            <a:r>
              <a:rPr lang="de-CH" dirty="0"/>
              <a:t>+ Einfach automatisierbar und mit einem Modell besonders einfach automatisierbar</a:t>
            </a:r>
          </a:p>
          <a:p>
            <a:r>
              <a:rPr lang="de-CH" dirty="0"/>
              <a:t>+ Benötigt keine komplexe Mathematik</a:t>
            </a:r>
          </a:p>
          <a:p>
            <a:r>
              <a:rPr lang="de-CH" dirty="0"/>
              <a:t>+ GUI Gestaltung ist sehr einfach da es nur wenige tabellarische</a:t>
            </a:r>
          </a:p>
          <a:p>
            <a:r>
              <a:rPr lang="de-CH" dirty="0"/>
              <a:t>   Auswahlmöglichkeiten gibt</a:t>
            </a:r>
          </a:p>
          <a:p>
            <a:endParaRPr lang="en-GB" dirty="0"/>
          </a:p>
          <a:p>
            <a:r>
              <a:rPr lang="de-CH" dirty="0"/>
              <a:t>- Kann nicht auf instabile Systeme angewendet werden</a:t>
            </a:r>
          </a:p>
          <a:p>
            <a:r>
              <a:rPr lang="de-CH" dirty="0"/>
              <a:t>- Kann nur für minimalphasige Systeme angewendet werden</a:t>
            </a:r>
          </a:p>
          <a:p>
            <a:r>
              <a:rPr lang="de-CH" dirty="0"/>
              <a:t>- Ziegler-Nichols mit Hilfe der Stabilitätsgrenze kann ohne Modell am realen Prozess</a:t>
            </a:r>
          </a:p>
          <a:p>
            <a:r>
              <a:rPr lang="de-CH" dirty="0"/>
              <a:t>  kaum umgesetzt werden</a:t>
            </a:r>
          </a:p>
          <a:p>
            <a:r>
              <a:rPr lang="de-CH" dirty="0"/>
              <a:t>- Die Methoden dienen nur für einen ersten </a:t>
            </a:r>
            <a:r>
              <a:rPr lang="de-CH" dirty="0" err="1"/>
              <a:t>Reglerentwurf</a:t>
            </a:r>
            <a:r>
              <a:rPr lang="de-CH" dirty="0"/>
              <a:t> und sind keineswegs optimal</a:t>
            </a:r>
          </a:p>
          <a:p>
            <a:r>
              <a:rPr lang="de-CH" dirty="0"/>
              <a:t>- Nur Systeme der Form PT1, PT2 oder PT3 geeignet</a:t>
            </a:r>
          </a:p>
          <a:p>
            <a:r>
              <a:rPr lang="de-CH" dirty="0"/>
              <a:t>- Nicht geeignet für MIMO-Systeme</a:t>
            </a:r>
          </a:p>
          <a:p>
            <a:r>
              <a:rPr lang="de-CH" dirty="0"/>
              <a:t>- </a:t>
            </a:r>
            <a:r>
              <a:rPr lang="de-CH" dirty="0" err="1"/>
              <a:t>Reglerstruktur</a:t>
            </a:r>
            <a:r>
              <a:rPr lang="de-CH" dirty="0"/>
              <a:t> ist auf PID-Regler beschränkt</a:t>
            </a:r>
          </a:p>
        </p:txBody>
      </p:sp>
    </p:spTree>
    <p:extLst>
      <p:ext uri="{BB962C8B-B14F-4D97-AF65-F5344CB8AC3E}">
        <p14:creationId xmlns:p14="http://schemas.microsoft.com/office/powerpoint/2010/main" val="1891194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8523E-A320-D54C-3404-880A9BAFA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Matlab</a:t>
            </a:r>
            <a:r>
              <a:rPr lang="de-CH" dirty="0"/>
              <a:t> </a:t>
            </a:r>
            <a:r>
              <a:rPr lang="de-CH" dirty="0" err="1"/>
              <a:t>systune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6D95E-79CB-F594-2A8C-BB33FEE0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0661"/>
            <a:ext cx="10515600" cy="1228604"/>
          </a:xfrm>
        </p:spPr>
        <p:txBody>
          <a:bodyPr>
            <a:normAutofit fontScale="92500" lnSpcReduction="10000"/>
          </a:bodyPr>
          <a:lstStyle/>
          <a:p>
            <a:r>
              <a:rPr lang="de-CH" dirty="0"/>
              <a:t>Komplexes Werkzeug zur vielseitigen Optimierung von Systemparametern aufgrund von Bewertungskriterien</a:t>
            </a:r>
          </a:p>
          <a:p>
            <a:r>
              <a:rPr lang="de-CH" dirty="0"/>
              <a:t>Optimiert den ein ganzes System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150E6E-A4D9-70AC-9A8C-5110A8ECAB66}"/>
              </a:ext>
            </a:extLst>
          </p:cNvPr>
          <p:cNvSpPr txBox="1"/>
          <p:nvPr/>
        </p:nvSpPr>
        <p:spPr>
          <a:xfrm>
            <a:off x="908178" y="2855158"/>
            <a:ext cx="105155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+ Sehr flexibel</a:t>
            </a:r>
          </a:p>
          <a:p>
            <a:r>
              <a:rPr lang="de-CH" dirty="0"/>
              <a:t>+ Einfach automatisierbar </a:t>
            </a:r>
          </a:p>
          <a:p>
            <a:r>
              <a:rPr lang="de-CH" dirty="0"/>
              <a:t>+ Optimierung kann sehr detailliert vorgenommen werden</a:t>
            </a:r>
          </a:p>
          <a:p>
            <a:r>
              <a:rPr lang="de-CH" dirty="0"/>
              <a:t>+ Kann auf instabile Systeme angewendet werden</a:t>
            </a:r>
          </a:p>
          <a:p>
            <a:r>
              <a:rPr lang="de-CH" dirty="0"/>
              <a:t>+ Geeignet für MIMO-Systeme</a:t>
            </a:r>
          </a:p>
          <a:p>
            <a:r>
              <a:rPr lang="de-CH" dirty="0"/>
              <a:t>+ Kann beliebig viele Parameter optimieren</a:t>
            </a:r>
          </a:p>
          <a:p>
            <a:r>
              <a:rPr lang="de-CH" dirty="0"/>
              <a:t>+ Grafischer Editor wird durch </a:t>
            </a:r>
            <a:r>
              <a:rPr lang="de-CH" dirty="0" err="1"/>
              <a:t>Matlab</a:t>
            </a:r>
            <a:r>
              <a:rPr lang="de-CH" dirty="0"/>
              <a:t> bereitgestellt</a:t>
            </a:r>
          </a:p>
          <a:p>
            <a:endParaRPr lang="en-GB" dirty="0"/>
          </a:p>
          <a:p>
            <a:r>
              <a:rPr lang="de-CH" dirty="0"/>
              <a:t>- Benötigt </a:t>
            </a:r>
            <a:r>
              <a:rPr lang="de-CH" dirty="0" err="1"/>
              <a:t>Matlab</a:t>
            </a:r>
            <a:r>
              <a:rPr lang="de-CH" dirty="0"/>
              <a:t> mit Version &gt;= R2012b</a:t>
            </a:r>
          </a:p>
          <a:p>
            <a:r>
              <a:rPr lang="de-CH" dirty="0"/>
              <a:t>- Das Modell muss als </a:t>
            </a:r>
            <a:r>
              <a:rPr lang="de-CH" dirty="0" err="1"/>
              <a:t>genss</a:t>
            </a:r>
            <a:r>
              <a:rPr lang="de-CH" dirty="0"/>
              <a:t> Modell vorliegen</a:t>
            </a:r>
          </a:p>
          <a:p>
            <a:r>
              <a:rPr lang="de-CH" dirty="0"/>
              <a:t>- GUI Gestaltung zur Eingabe der Optimierungsziele ist komplex</a:t>
            </a:r>
          </a:p>
          <a:p>
            <a:r>
              <a:rPr lang="de-CH" dirty="0"/>
              <a:t>- </a:t>
            </a:r>
            <a:r>
              <a:rPr lang="de-CH" dirty="0" err="1"/>
              <a:t>Reglerstruktur</a:t>
            </a:r>
            <a:r>
              <a:rPr lang="de-CH" dirty="0"/>
              <a:t> muss vorgegeben werden</a:t>
            </a:r>
          </a:p>
        </p:txBody>
      </p:sp>
    </p:spTree>
    <p:extLst>
      <p:ext uri="{BB962C8B-B14F-4D97-AF65-F5344CB8AC3E}">
        <p14:creationId xmlns:p14="http://schemas.microsoft.com/office/powerpoint/2010/main" val="2634345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6BDA4-9F24-B42E-1C9B-06E7FC3CE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Matlab</a:t>
            </a:r>
            <a:r>
              <a:rPr lang="de-CH" dirty="0"/>
              <a:t> </a:t>
            </a:r>
            <a:r>
              <a:rPr lang="de-CH" dirty="0" err="1"/>
              <a:t>looptune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08D29-7110-2766-426D-1A4EBDF3D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6890"/>
            <a:ext cx="10515600" cy="1060644"/>
          </a:xfrm>
        </p:spPr>
        <p:txBody>
          <a:bodyPr/>
          <a:lstStyle/>
          <a:p>
            <a:r>
              <a:rPr lang="de-CH" dirty="0"/>
              <a:t>Ähnlich wie </a:t>
            </a:r>
            <a:r>
              <a:rPr lang="de-CH" dirty="0" err="1"/>
              <a:t>systune</a:t>
            </a:r>
            <a:r>
              <a:rPr lang="de-CH" dirty="0"/>
              <a:t>, aber optimiert nur einen Feedbackloop 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F3FD2B-FAE1-9D50-5660-922B147A9D39}"/>
              </a:ext>
            </a:extLst>
          </p:cNvPr>
          <p:cNvSpPr txBox="1"/>
          <p:nvPr/>
        </p:nvSpPr>
        <p:spPr>
          <a:xfrm>
            <a:off x="933060" y="2245558"/>
            <a:ext cx="10515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+ Kann auf instabile Systeme angewendet werden</a:t>
            </a:r>
          </a:p>
          <a:p>
            <a:r>
              <a:rPr lang="de-CH" dirty="0"/>
              <a:t>+ Geeignet für MIMO-Systeme</a:t>
            </a:r>
          </a:p>
          <a:p>
            <a:r>
              <a:rPr lang="de-CH" dirty="0"/>
              <a:t>+ Kann beliebig viele Parameter optimieren</a:t>
            </a:r>
          </a:p>
          <a:p>
            <a:endParaRPr lang="en-GB" dirty="0"/>
          </a:p>
          <a:p>
            <a:r>
              <a:rPr lang="de-CH" dirty="0"/>
              <a:t>- Benötigt </a:t>
            </a:r>
            <a:r>
              <a:rPr lang="de-CH" dirty="0" err="1"/>
              <a:t>Matlab</a:t>
            </a:r>
            <a:r>
              <a:rPr lang="de-CH" dirty="0"/>
              <a:t> mit Version &gt;= R2011b</a:t>
            </a:r>
          </a:p>
          <a:p>
            <a:r>
              <a:rPr lang="de-CH" dirty="0"/>
              <a:t>- Das Modell muss als </a:t>
            </a:r>
            <a:r>
              <a:rPr lang="de-CH" dirty="0" err="1"/>
              <a:t>genss</a:t>
            </a:r>
            <a:r>
              <a:rPr lang="de-CH" dirty="0"/>
              <a:t> Modell vorliegen</a:t>
            </a:r>
          </a:p>
          <a:p>
            <a:r>
              <a:rPr lang="de-CH" dirty="0"/>
              <a:t>- GUI Gestaltung zur Eingabe der Optimierungsziele ist komplex</a:t>
            </a:r>
          </a:p>
          <a:p>
            <a:r>
              <a:rPr lang="de-CH" dirty="0"/>
              <a:t>- </a:t>
            </a:r>
            <a:r>
              <a:rPr lang="de-CH" dirty="0" err="1"/>
              <a:t>Reglerstruktur</a:t>
            </a:r>
            <a:r>
              <a:rPr lang="de-CH" dirty="0"/>
              <a:t> muss vorgegeben werden</a:t>
            </a:r>
          </a:p>
        </p:txBody>
      </p:sp>
    </p:spTree>
    <p:extLst>
      <p:ext uri="{BB962C8B-B14F-4D97-AF65-F5344CB8AC3E}">
        <p14:creationId xmlns:p14="http://schemas.microsoft.com/office/powerpoint/2010/main" val="1996929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02375-8E4C-C50A-DA1A-F0B89B2D2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Genetische</a:t>
            </a:r>
            <a:r>
              <a:rPr lang="en-GB" dirty="0"/>
              <a:t> </a:t>
            </a:r>
            <a:r>
              <a:rPr lang="en-GB" dirty="0" err="1"/>
              <a:t>Algorithmen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B8913-5A11-8719-A02C-0A634E994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983"/>
            <a:ext cx="10515600" cy="917575"/>
          </a:xfrm>
        </p:spPr>
        <p:txBody>
          <a:bodyPr/>
          <a:lstStyle/>
          <a:p>
            <a:r>
              <a:rPr lang="de-CH" dirty="0"/>
              <a:t>Orientiert sich an der natürlichen Evolution um bessere Systemparameter zu finden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2424BC-5FAE-DFB8-33F7-E79447CFCB70}"/>
              </a:ext>
            </a:extLst>
          </p:cNvPr>
          <p:cNvSpPr txBox="1"/>
          <p:nvPr/>
        </p:nvSpPr>
        <p:spPr>
          <a:xfrm>
            <a:off x="933060" y="2245558"/>
            <a:ext cx="1081729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dirty="0"/>
              <a:t>+ Geeignet für MIMO-Systeme</a:t>
            </a:r>
          </a:p>
          <a:p>
            <a:r>
              <a:rPr lang="de-CH" sz="1600" dirty="0"/>
              <a:t>+ Kann beliebig viele Parameter optimieren</a:t>
            </a:r>
          </a:p>
          <a:p>
            <a:r>
              <a:rPr lang="de-CH" sz="1600" dirty="0"/>
              <a:t>+ Sehr flexibel bezüglich der </a:t>
            </a:r>
            <a:r>
              <a:rPr lang="de-CH" sz="1600" dirty="0" err="1"/>
              <a:t>Reglerstruktur</a:t>
            </a:r>
            <a:endParaRPr lang="de-CH" sz="1600" dirty="0"/>
          </a:p>
          <a:p>
            <a:r>
              <a:rPr lang="de-CH" sz="1600" dirty="0"/>
              <a:t>+ Kann auf nichtlineare Regelstrecken und Regler angewendet werden</a:t>
            </a:r>
          </a:p>
          <a:p>
            <a:r>
              <a:rPr lang="de-CH" sz="1600" dirty="0"/>
              <a:t>+ Der Algorithmus allein kann ohne Modellwissen arbeiten</a:t>
            </a:r>
          </a:p>
          <a:p>
            <a:r>
              <a:rPr lang="de-CH" sz="1600" dirty="0"/>
              <a:t>+ Gut automatisierbar</a:t>
            </a:r>
          </a:p>
          <a:p>
            <a:endParaRPr lang="en-GB" sz="1600" dirty="0"/>
          </a:p>
          <a:p>
            <a:r>
              <a:rPr lang="de-CH" sz="1600" dirty="0"/>
              <a:t>- Da die Optimierung auf reiner Simulation basiert, muss jedoch ein Modell der Regelstrecke vorliegen</a:t>
            </a:r>
          </a:p>
          <a:p>
            <a:r>
              <a:rPr lang="de-CH" sz="1600" dirty="0"/>
              <a:t>- Kann nicht auf zeitvariante Regelstrecken angewendet werden</a:t>
            </a:r>
          </a:p>
          <a:p>
            <a:r>
              <a:rPr lang="de-CH" sz="1600" dirty="0"/>
              <a:t>- Instabile Systeme können stabilisiert werden, jedoch ist dies nicht garantiert</a:t>
            </a:r>
          </a:p>
          <a:p>
            <a:r>
              <a:rPr lang="de-CH" sz="1600" dirty="0"/>
              <a:t>- Benötigt eine gut definierte Bewertungsfunktion. Es kann sehr schwierig sein eine</a:t>
            </a:r>
          </a:p>
          <a:p>
            <a:r>
              <a:rPr lang="de-CH" sz="1600" dirty="0"/>
              <a:t>  gute Bewertungsfunktion zu definieren. Gewünschtes </a:t>
            </a:r>
            <a:r>
              <a:rPr lang="de-CH" sz="1600" dirty="0" err="1"/>
              <a:t>Transientenverhalten</a:t>
            </a:r>
            <a:r>
              <a:rPr lang="de-CH" sz="1600" dirty="0"/>
              <a:t>, Überschwingen, Robustheitsanforderungen, etc.</a:t>
            </a:r>
          </a:p>
          <a:p>
            <a:r>
              <a:rPr lang="de-CH" sz="1600" dirty="0"/>
              <a:t>  müssen während des </a:t>
            </a:r>
            <a:r>
              <a:rPr lang="de-CH" sz="1600" dirty="0" err="1"/>
              <a:t>bewertens</a:t>
            </a:r>
            <a:r>
              <a:rPr lang="de-CH" sz="1600" dirty="0"/>
              <a:t> in eine Zahl zusammengefasst werden. - </a:t>
            </a:r>
            <a:r>
              <a:rPr lang="de-CH" sz="1600" dirty="0" err="1"/>
              <a:t>Reglerstruktur</a:t>
            </a:r>
            <a:r>
              <a:rPr lang="de-CH" sz="1600" dirty="0"/>
              <a:t> muss vorgegeben werden</a:t>
            </a:r>
          </a:p>
          <a:p>
            <a:r>
              <a:rPr lang="de-CH" sz="1600" dirty="0"/>
              <a:t>- Optimierung kann lange dauern je nach Anzahl Parameter, Komplexität der Regelstrecke und Population/Generationen Grösse</a:t>
            </a:r>
          </a:p>
          <a:p>
            <a:r>
              <a:rPr lang="de-CH" sz="1600" dirty="0"/>
              <a:t>- Es ist nicht garantiert, einen optimalen Regler zu finden</a:t>
            </a:r>
          </a:p>
          <a:p>
            <a:r>
              <a:rPr lang="de-CH" sz="1600" dirty="0"/>
              <a:t>- </a:t>
            </a:r>
            <a:r>
              <a:rPr lang="de-CH" sz="1600" dirty="0" err="1"/>
              <a:t>Reglerstruktur</a:t>
            </a:r>
            <a:r>
              <a:rPr lang="de-CH" sz="1600" dirty="0"/>
              <a:t> muss vorgegeben werden</a:t>
            </a:r>
          </a:p>
        </p:txBody>
      </p:sp>
    </p:spTree>
    <p:extLst>
      <p:ext uri="{BB962C8B-B14F-4D97-AF65-F5344CB8AC3E}">
        <p14:creationId xmlns:p14="http://schemas.microsoft.com/office/powerpoint/2010/main" val="144532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426D-2278-13FE-A199-3EDAC4097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Neuroevolution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5C1EF-4D21-E6E2-0DCE-A53694FA5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992227"/>
          </a:xfrm>
        </p:spPr>
        <p:txBody>
          <a:bodyPr/>
          <a:lstStyle/>
          <a:p>
            <a:r>
              <a:rPr lang="de-CH" dirty="0"/>
              <a:t>Erweiterung des genetischen Alg. auf das mutieren der </a:t>
            </a:r>
            <a:r>
              <a:rPr lang="de-CH" dirty="0" err="1"/>
              <a:t>Reglerstruktur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55C858-8910-2AA8-6EC6-4BFC6A8AD7B7}"/>
              </a:ext>
            </a:extLst>
          </p:cNvPr>
          <p:cNvSpPr txBox="1"/>
          <p:nvPr/>
        </p:nvSpPr>
        <p:spPr>
          <a:xfrm>
            <a:off x="933060" y="2245558"/>
            <a:ext cx="1081729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dirty="0"/>
              <a:t>+ Geeignet für MIMO-Systeme</a:t>
            </a:r>
          </a:p>
          <a:p>
            <a:r>
              <a:rPr lang="de-CH" sz="1600" dirty="0"/>
              <a:t>+ Kann beliebig viele Parameter optimieren</a:t>
            </a:r>
          </a:p>
          <a:p>
            <a:r>
              <a:rPr lang="de-CH" sz="1600" dirty="0"/>
              <a:t>+ Sehr flexibel bezüglich der </a:t>
            </a:r>
            <a:r>
              <a:rPr lang="de-CH" sz="1600" dirty="0" err="1"/>
              <a:t>Reglerstruktur</a:t>
            </a:r>
            <a:endParaRPr lang="de-CH" sz="1600" dirty="0"/>
          </a:p>
          <a:p>
            <a:r>
              <a:rPr lang="de-CH" sz="1600" dirty="0"/>
              <a:t>+ Kann auf nichtlineare Regelstrecken und Regler angewendet werden</a:t>
            </a:r>
          </a:p>
          <a:p>
            <a:r>
              <a:rPr lang="de-CH" sz="1600" dirty="0"/>
              <a:t>+ Der Algorithmus allein kann ohne Modellwissen arbeiten</a:t>
            </a:r>
          </a:p>
          <a:p>
            <a:r>
              <a:rPr lang="de-CH" sz="1600" dirty="0"/>
              <a:t>+ Die </a:t>
            </a:r>
            <a:r>
              <a:rPr lang="de-CH" sz="1600" dirty="0" err="1"/>
              <a:t>Reglerstruktur</a:t>
            </a:r>
            <a:r>
              <a:rPr lang="de-CH" sz="1600" dirty="0"/>
              <a:t> muss nicht vorgegeben werden</a:t>
            </a:r>
          </a:p>
          <a:p>
            <a:r>
              <a:rPr lang="de-CH" sz="1600" dirty="0"/>
              <a:t>+ Sehr gut automatisierbar</a:t>
            </a:r>
          </a:p>
          <a:p>
            <a:endParaRPr lang="en-GB" sz="1600" dirty="0"/>
          </a:p>
          <a:p>
            <a:r>
              <a:rPr lang="de-CH" sz="1600" dirty="0"/>
              <a:t>- Da die Optimierung auf reiner Simulation basiert, muss jedoch ein Modell der Regelstrecke vorliegen</a:t>
            </a:r>
          </a:p>
          <a:p>
            <a:r>
              <a:rPr lang="de-CH" sz="1600" dirty="0"/>
              <a:t>- Kann nicht auf zeitvariante Regelstrecken angewendet werden</a:t>
            </a:r>
          </a:p>
          <a:p>
            <a:r>
              <a:rPr lang="de-CH" sz="1600" dirty="0"/>
              <a:t>- Instabile Systeme können stabilisiert werden, jedoch ist dies nicht garantiert</a:t>
            </a:r>
          </a:p>
          <a:p>
            <a:r>
              <a:rPr lang="de-CH" sz="1600" dirty="0"/>
              <a:t>- Benötigt eine gut definierte Bewertungsfunktion. Es kann sehr schwierig sein eine</a:t>
            </a:r>
          </a:p>
          <a:p>
            <a:r>
              <a:rPr lang="de-CH" sz="1600" dirty="0"/>
              <a:t>  gute Bewertungsfunktion zu definieren. Gewünschtes </a:t>
            </a:r>
            <a:r>
              <a:rPr lang="de-CH" sz="1600" dirty="0" err="1"/>
              <a:t>Transientenverhalten</a:t>
            </a:r>
            <a:r>
              <a:rPr lang="de-CH" sz="1600" dirty="0"/>
              <a:t>, Überschwingen, Robustheitsanforderungen, etc.</a:t>
            </a:r>
          </a:p>
          <a:p>
            <a:r>
              <a:rPr lang="de-CH" sz="1600" dirty="0"/>
              <a:t>  müssen während des </a:t>
            </a:r>
            <a:r>
              <a:rPr lang="de-CH" sz="1600" dirty="0" err="1"/>
              <a:t>bewertens</a:t>
            </a:r>
            <a:r>
              <a:rPr lang="de-CH" sz="1600" dirty="0"/>
              <a:t> in eine Zahl zusammengefasst werden. - </a:t>
            </a:r>
            <a:r>
              <a:rPr lang="de-CH" sz="1600" dirty="0" err="1"/>
              <a:t>Reglerstruktur</a:t>
            </a:r>
            <a:r>
              <a:rPr lang="de-CH" sz="1600" dirty="0"/>
              <a:t> muss vorgegeben werden</a:t>
            </a:r>
          </a:p>
          <a:p>
            <a:r>
              <a:rPr lang="de-CH" sz="1600" dirty="0"/>
              <a:t>- Optimierung kann lange dauern je nach Anzahl Parameter, Komplexität der Regelstrecke und Population/Generationen Grösse</a:t>
            </a:r>
          </a:p>
          <a:p>
            <a:r>
              <a:rPr lang="de-CH" sz="1600" dirty="0"/>
              <a:t>- Es ist nicht garantiert, einen optimalen Regler zu finden</a:t>
            </a:r>
          </a:p>
        </p:txBody>
      </p:sp>
    </p:spTree>
    <p:extLst>
      <p:ext uri="{BB962C8B-B14F-4D97-AF65-F5344CB8AC3E}">
        <p14:creationId xmlns:p14="http://schemas.microsoft.com/office/powerpoint/2010/main" val="2246879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</Words>
  <Application>Microsoft Office PowerPoint</Application>
  <PresentationFormat>Breitbild</PresentationFormat>
  <Paragraphs>135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PowerPoint-Präsentation</vt:lpstr>
      <vt:lpstr>Auswahlkriterien</vt:lpstr>
      <vt:lpstr>Recherchierte Methoden</vt:lpstr>
      <vt:lpstr>Lambda-Tuning</vt:lpstr>
      <vt:lpstr>Pol-Platzierung</vt:lpstr>
      <vt:lpstr>LQR</vt:lpstr>
      <vt:lpstr>Ziegler-Nichols</vt:lpstr>
      <vt:lpstr>Matlab systune</vt:lpstr>
      <vt:lpstr>Matlab looptune</vt:lpstr>
      <vt:lpstr>Genetische Algorithmen</vt:lpstr>
      <vt:lpstr>Neuroevolution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Krieg</dc:creator>
  <cp:lastModifiedBy>Alex Krieg</cp:lastModifiedBy>
  <cp:revision>4</cp:revision>
  <dcterms:created xsi:type="dcterms:W3CDTF">2025-11-03T08:20:53Z</dcterms:created>
  <dcterms:modified xsi:type="dcterms:W3CDTF">2025-11-03T13:44:47Z</dcterms:modified>
</cp:coreProperties>
</file>